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6" r:id="rId4"/>
    <p:sldId id="267" r:id="rId5"/>
    <p:sldId id="261" r:id="rId6"/>
    <p:sldId id="264" r:id="rId7"/>
    <p:sldId id="263" r:id="rId8"/>
    <p:sldId id="262" r:id="rId9"/>
    <p:sldId id="259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5AC"/>
    <a:srgbClr val="000000"/>
    <a:srgbClr val="EC7CE7"/>
    <a:srgbClr val="C50B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536" y="1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074DC-2AB0-4066-9278-3612A7882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E0389C-DD89-4353-96BD-1BA179458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D3BC1-5F8D-40ED-82F8-75CBC272F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983D34-901C-4BE0-8178-F7FC5F150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F726E-DBFF-4372-9950-1040AB77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862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984BD-B17B-450F-B473-124F97BF1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D5CA7B-B770-4EB6-AD58-7295A176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AA332-E4D1-42F5-B0D2-8F973542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7D044A-9CA1-485E-98CE-680F4E7D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ADBA8D-56CF-4F5C-9AA5-D65F6ABC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19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AB7B6-94BC-4206-8B47-C8364D672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9C6A62-CB12-4B2A-B641-678E938A5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0018EE-1854-49C2-934B-68AEB59E9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2D7DE5-4979-4C38-9135-335D43761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C1BBE6-183B-4B84-997B-2F8E948C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047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ED610-BC5B-41C0-A250-3FBBCAA6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FC869-6DF1-40FB-AFA1-C510E8A80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CFF81F-CF74-4601-9079-EAD907BDD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BB2569A-EBDE-4D21-8AF9-28249FB6C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E07B51-F34B-4E12-83DA-22691C4A9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D4F2A0-CFFF-4AA5-B716-69EB7C44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8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908D3-2BA2-4DB5-A5F3-C96EBB7F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562E63-99BC-4B53-970C-904435C08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C5DF18-6F85-4BF9-BC7A-8818082A4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C2738F2-538D-4C6A-9025-08A64F038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671A3E-9D9A-459E-B7AE-B091A73B8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7BB1C0-6B55-4ADF-93D5-4698D769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6CF912-D2A8-4FA1-BD6B-F8E330FC0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095FFC-62AB-43C8-9C71-9285BEBD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580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0D004C-BF1B-479D-8841-D5C5A1DB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E85941-28E0-4463-8E40-60924295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B76A4F-D940-42AD-AA88-BB11819B8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1F6D39-7386-419D-B4D3-B6B2F2AC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64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B6F964-8996-4C2D-B4D6-6AB0ABF2E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668F53-AFE7-48D8-BBE0-D5D61F92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EB1A8E-3C3D-40BA-8133-155548FF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467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C1A13-A3BF-44FE-AFB1-69EC902BB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1F398-73D7-444C-A007-2B8E73E62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098453-B0B7-48FE-AFB1-201DCF709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F8A114-66FA-47D2-9BBE-433CC3DDE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60A5AAA-D538-4BF4-9159-13C08E0D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01F593-D4A9-416E-85AC-F3586C0E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78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56D4A2-D56E-4DD9-9BB6-73E7F5E7D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978D8C2-8A04-4170-82D6-0E00FAF0E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7ADBDD-28D2-4B28-86CC-B27CDF48B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8AFBB6-57C5-468D-8DF5-B1174B6F1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F253A3-DDC7-496D-BD2A-5C1546F74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DD6FC-41BD-4BE0-8F36-E66525976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55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401D7-C1E6-47B7-9F7E-DB4345F5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DEE81D-9818-4C14-A0DE-107DEF038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3B5EFC-E628-4798-BF46-69E1950F7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2A2263-27A8-4CF4-8335-AF448643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536C07-1006-41B4-9F47-D15CB050A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63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41E1C3-ED57-4782-B824-CB9D103D7F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FCCA46-C547-4D17-993D-3052045A8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5D67B3-5287-4BB6-A502-EC69CDB86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C198FA-CF90-492F-A182-CB9EFF1D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8DE509-36EB-41A9-A87A-98362A80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120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69C34A-E3D8-4EBC-9E76-46DC96E5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444197-D94A-4797-91FD-BF0CAAA2F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BEBFEA-CDE8-42F6-B07F-26801AAE6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02649D-6FDC-4AE4-9C5E-F81E9D7D8892}" type="datetimeFigureOut">
              <a:rPr lang="ko-KR" altLang="en-US" smtClean="0"/>
              <a:t>2026-07-20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48FA65-2251-4831-91BB-8C7D98564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562726-8D84-41A7-8230-8568BE848F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60CC1-0DFF-4B4F-B7E0-4376E632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51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CF20A1A8-B60D-40A9-822D-278ED1015F3A}"/>
              </a:ext>
            </a:extLst>
          </p:cNvPr>
          <p:cNvGrpSpPr/>
          <p:nvPr/>
        </p:nvGrpSpPr>
        <p:grpSpPr>
          <a:xfrm>
            <a:off x="1314061" y="2465668"/>
            <a:ext cx="9563878" cy="1554271"/>
            <a:chOff x="1314061" y="2465668"/>
            <a:chExt cx="9563878" cy="155427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862DB0-0FFA-49A8-A74D-447B3693BE2F}"/>
                </a:ext>
              </a:extLst>
            </p:cNvPr>
            <p:cNvSpPr txBox="1"/>
            <p:nvPr/>
          </p:nvSpPr>
          <p:spPr>
            <a:xfrm>
              <a:off x="1314061" y="2465668"/>
              <a:ext cx="9563878" cy="11233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6700" b="1">
                  <a:solidFill>
                    <a:schemeClr val="bg1"/>
                  </a:solidFill>
                  <a:latin typeface="Pretendard"/>
                </a:rPr>
                <a:t>K</a:t>
              </a:r>
              <a:r>
                <a:rPr lang="en-US" altLang="ko-KR" sz="5000" b="1">
                  <a:solidFill>
                    <a:schemeClr val="bg1"/>
                  </a:solidFill>
                  <a:latin typeface="Pretendard"/>
                </a:rPr>
                <a:t>ang Dong </a:t>
              </a:r>
              <a:r>
                <a:rPr lang="en-US" altLang="ko-KR" sz="5000" b="1" err="1">
                  <a:solidFill>
                    <a:schemeClr val="bg1"/>
                  </a:solidFill>
                  <a:latin typeface="Pretendard"/>
                </a:rPr>
                <a:t>Gyun</a:t>
              </a:r>
              <a:endParaRPr lang="ko-KR" altLang="en-US" sz="5000" b="1">
                <a:solidFill>
                  <a:schemeClr val="bg1"/>
                </a:solidFill>
                <a:latin typeface="Pretendard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4B03A2B-1227-43E3-8B4E-5335C3142C18}"/>
                </a:ext>
              </a:extLst>
            </p:cNvPr>
            <p:cNvSpPr txBox="1"/>
            <p:nvPr/>
          </p:nvSpPr>
          <p:spPr>
            <a:xfrm>
              <a:off x="1314061" y="3158165"/>
              <a:ext cx="9563878" cy="861774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alpha val="28000"/>
                  </a:schemeClr>
                </a:gs>
                <a:gs pos="100000">
                  <a:schemeClr val="tx1"/>
                </a:gs>
              </a:gsLst>
              <a:lin ang="2700000" scaled="1"/>
              <a:tileRect/>
            </a:gradFill>
            <a:effectLst>
              <a:reflection blurRad="6350" stA="52000" endA="300" endPos="69000" dir="5400000" sy="-100000" algn="bl" rotWithShape="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5000" b="1">
                  <a:gradFill flip="none" rotWithShape="1">
                    <a:gsLst>
                      <a:gs pos="66000">
                        <a:srgbClr val="EC7CE7"/>
                      </a:gs>
                      <a:gs pos="0">
                        <a:schemeClr val="bg1"/>
                      </a:gs>
                      <a:gs pos="39000">
                        <a:srgbClr val="FFFF00"/>
                      </a:gs>
                      <a:gs pos="100000">
                        <a:srgbClr val="FF0000"/>
                      </a:gs>
                    </a:gsLst>
                    <a:lin ang="8100000" scaled="1"/>
                    <a:tileRect/>
                  </a:gradFill>
                  <a:latin typeface="Pretendard"/>
                </a:rPr>
                <a:t>Data</a:t>
              </a:r>
              <a:r>
                <a:rPr lang="en-US" altLang="ko-KR" sz="5000" b="1">
                  <a:solidFill>
                    <a:schemeClr val="bg1"/>
                  </a:solidFill>
                  <a:latin typeface="Pretendard"/>
                </a:rPr>
                <a:t> Engineer</a:t>
              </a:r>
              <a:endParaRPr lang="ko-KR" altLang="en-US" sz="5000" b="1">
                <a:solidFill>
                  <a:schemeClr val="bg1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9643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E04D9F-A150-1B93-B2D5-43ECB7FE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목차 </a:t>
            </a:r>
            <a:r>
              <a:rPr lang="en-US" altLang="ko-KR"/>
              <a:t>– </a:t>
            </a:r>
            <a:r>
              <a:rPr lang="ko-KR" altLang="en-US"/>
              <a:t>기술스택</a:t>
            </a:r>
            <a:r>
              <a:rPr lang="en-US" altLang="ko-KR"/>
              <a:t>, </a:t>
            </a:r>
            <a:r>
              <a:rPr lang="ko-KR" altLang="en-US"/>
              <a:t>프로젝트요약</a:t>
            </a:r>
            <a:r>
              <a:rPr lang="en-US" altLang="ko-KR"/>
              <a:t>, </a:t>
            </a:r>
            <a:r>
              <a:rPr lang="ko-KR" altLang="en-US"/>
              <a:t>프로젝트 상세</a:t>
            </a:r>
            <a:r>
              <a:rPr lang="en-US" altLang="ko-KR"/>
              <a:t>, </a:t>
            </a:r>
            <a:r>
              <a:rPr lang="ko-KR" altLang="en-US"/>
              <a:t>마무리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1298116-4A88-BFB2-BB04-F98B20BB4579}"/>
              </a:ext>
            </a:extLst>
          </p:cNvPr>
          <p:cNvSpPr txBox="1">
            <a:spLocks/>
          </p:cNvSpPr>
          <p:nvPr/>
        </p:nvSpPr>
        <p:spPr>
          <a:xfrm>
            <a:off x="838200" y="1448858"/>
            <a:ext cx="10515600" cy="48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/>
              <a:t>목차부분 설명 </a:t>
            </a:r>
            <a:r>
              <a:rPr lang="en-US" altLang="ko-KR" sz="2000"/>
              <a:t>– </a:t>
            </a:r>
            <a:r>
              <a:rPr lang="ko-KR" altLang="en-US" sz="2000"/>
              <a:t>처음 내 이름과 직무명에서 밑으로 내릴때 카메라가 물에 빠진것처럼 물방울이 소량 생기고 핸드폰이 빠진 </a:t>
            </a:r>
            <a:r>
              <a:rPr lang="en-US" altLang="ko-KR" sz="2000"/>
              <a:t>(</a:t>
            </a:r>
            <a:r>
              <a:rPr lang="ko-KR" altLang="en-US" sz="2000"/>
              <a:t>핸드폰은 안나오고 그림자만 네모로 </a:t>
            </a:r>
            <a:r>
              <a:rPr lang="en-US" altLang="ko-KR" sz="2000"/>
              <a:t>45</a:t>
            </a:r>
            <a:r>
              <a:rPr lang="ko-KR" altLang="en-US" sz="2000"/>
              <a:t>도정도 기울어진</a:t>
            </a:r>
            <a:r>
              <a:rPr lang="en-US" altLang="ko-KR" sz="2000"/>
              <a:t>) </a:t>
            </a:r>
            <a:r>
              <a:rPr lang="ko-KR" altLang="en-US" sz="2000"/>
              <a:t>모습이 비친다</a:t>
            </a:r>
            <a:r>
              <a:rPr lang="en-US" altLang="ko-KR" sz="2000"/>
              <a:t>.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목차부분 설명 </a:t>
            </a:r>
            <a:r>
              <a:rPr lang="en-US" altLang="ko-KR" sz="2000"/>
              <a:t>– </a:t>
            </a:r>
            <a:r>
              <a:rPr lang="ko-KR" altLang="en-US" sz="2000"/>
              <a:t>계속 스크롤 내리다 목차 부분에 왔을 때 목차 글자가 보이고  핸드폰이 빠져서 천천히 내려가는 그림자가 글자 위에 보인다</a:t>
            </a:r>
            <a:r>
              <a:rPr lang="en-US" altLang="ko-KR" sz="2000"/>
              <a:t>. (</a:t>
            </a:r>
            <a:r>
              <a:rPr lang="ko-KR" altLang="en-US" sz="2000"/>
              <a:t>천천히 어두운 그림자가 내려온다</a:t>
            </a:r>
            <a:r>
              <a:rPr lang="en-US" altLang="ko-KR" sz="2000"/>
              <a:t>. </a:t>
            </a:r>
            <a:r>
              <a:rPr lang="ko-KR" altLang="en-US" sz="2000"/>
              <a:t>글자는 보일정도</a:t>
            </a:r>
            <a:r>
              <a:rPr lang="en-US" altLang="ko-KR" sz="2000"/>
              <a:t>. </a:t>
            </a:r>
            <a:r>
              <a:rPr lang="ko-KR" altLang="en-US" sz="2000"/>
              <a:t>약간 어둡게만</a:t>
            </a:r>
            <a:r>
              <a:rPr lang="en-US" altLang="ko-KR" sz="2000"/>
              <a:t>)</a:t>
            </a:r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ko-KR" altLang="en-US" sz="2000"/>
              <a:t>포폴 기술스택 부분 설명 </a:t>
            </a:r>
            <a:r>
              <a:rPr lang="en-US" altLang="ko-KR" sz="2000"/>
              <a:t>–</a:t>
            </a:r>
            <a:r>
              <a:rPr lang="ko-KR" altLang="en-US" sz="2000"/>
              <a:t>밑으로 스크롤하다 특정 구역 도착 후 카드에 물에빠진 것처럼 카드가 위에서 떨어지고 물방울이 생긴다</a:t>
            </a:r>
            <a:r>
              <a:rPr lang="en-US" altLang="ko-KR" sz="2000"/>
              <a:t>. </a:t>
            </a:r>
            <a:r>
              <a:rPr lang="ko-KR" altLang="en-US" sz="2000"/>
              <a:t>이벤트로는 호버시 마우스 위로 작은 카드가 생겨 내가 이 기술을 터득하기 위해 어떤 스몰 프로젝트를 했는지 영상 같은게 나온다</a:t>
            </a:r>
            <a:r>
              <a:rPr lang="en-US" altLang="ko-KR" sz="2000"/>
              <a:t>.</a:t>
            </a:r>
          </a:p>
          <a:p>
            <a:r>
              <a:rPr lang="en-US" altLang="ko-KR" sz="2000"/>
              <a:t>(</a:t>
            </a:r>
            <a:r>
              <a:rPr lang="ko-KR" altLang="en-US" sz="2000"/>
              <a:t> 언어 </a:t>
            </a:r>
            <a:r>
              <a:rPr lang="en-US" altLang="ko-KR" sz="2000"/>
              <a:t>/ </a:t>
            </a:r>
            <a:r>
              <a:rPr lang="ko-KR" altLang="en-US" sz="2000"/>
              <a:t>데이터 처리</a:t>
            </a:r>
            <a:r>
              <a:rPr lang="en-US" altLang="ko-KR" sz="2000"/>
              <a:t>/ </a:t>
            </a:r>
            <a:r>
              <a:rPr lang="ko-KR" altLang="en-US" sz="2000"/>
              <a:t>저장소 </a:t>
            </a:r>
            <a:r>
              <a:rPr lang="en-US" altLang="ko-KR" sz="2000"/>
              <a:t>/ </a:t>
            </a:r>
            <a:r>
              <a:rPr lang="ko-KR" altLang="en-US" sz="2000"/>
              <a:t>인프라</a:t>
            </a:r>
            <a:r>
              <a:rPr lang="en-US" altLang="ko-KR" sz="2000"/>
              <a:t>) </a:t>
            </a:r>
            <a:r>
              <a:rPr lang="ko-KR" altLang="en-US" sz="2000"/>
              <a:t>로 카드 배치</a:t>
            </a:r>
          </a:p>
        </p:txBody>
      </p:sp>
    </p:spTree>
    <p:extLst>
      <p:ext uri="{BB962C8B-B14F-4D97-AF65-F5344CB8AC3E}">
        <p14:creationId xmlns:p14="http://schemas.microsoft.com/office/powerpoint/2010/main" val="3747341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  <a14:imgEffect>
                      <a14:brightnessContrast bright="4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1F6B89B7-36A3-E4DD-3CBA-24A3E95E50D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EE3A624-2611-9179-2E3A-7CBB6CA0BDF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85E9B1-C67A-2C37-8125-9930EE408575}"/>
                </a:ext>
              </a:extLst>
            </p:cNvPr>
            <p:cNvSpPr txBox="1"/>
            <p:nvPr/>
          </p:nvSpPr>
          <p:spPr>
            <a:xfrm>
              <a:off x="2590800" y="2031623"/>
              <a:ext cx="70104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0">
                  <a:solidFill>
                    <a:srgbClr val="0035AC"/>
                  </a:solidFill>
                  <a:latin typeface="Pretendard"/>
                </a:rPr>
                <a:t>Portfolio</a:t>
              </a:r>
              <a:endParaRPr lang="ko-KR" altLang="en-US" sz="11000">
                <a:solidFill>
                  <a:srgbClr val="0035AC"/>
                </a:solidFill>
                <a:latin typeface="Pretendard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E9F9E0F-DE17-F466-2448-3F028E8A0D7D}"/>
                </a:ext>
              </a:extLst>
            </p:cNvPr>
            <p:cNvSpPr txBox="1"/>
            <p:nvPr/>
          </p:nvSpPr>
          <p:spPr>
            <a:xfrm>
              <a:off x="2590800" y="3041273"/>
              <a:ext cx="70104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0">
                  <a:solidFill>
                    <a:srgbClr val="0035AC"/>
                  </a:solidFill>
                  <a:latin typeface="Pretendard"/>
                </a:rPr>
                <a:t>Tech Stack</a:t>
              </a:r>
              <a:endParaRPr lang="ko-KR" altLang="en-US" sz="11000">
                <a:solidFill>
                  <a:srgbClr val="0035AC"/>
                </a:solidFill>
                <a:latin typeface="Pretendard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BE1297E-90E2-CA05-A723-A9AC06549E68}"/>
                </a:ext>
              </a:extLst>
            </p:cNvPr>
            <p:cNvSpPr/>
            <p:nvPr/>
          </p:nvSpPr>
          <p:spPr>
            <a:xfrm>
              <a:off x="3076575" y="3041272"/>
              <a:ext cx="5943600" cy="387727"/>
            </a:xfrm>
            <a:prstGeom prst="rect">
              <a:avLst/>
            </a:prstGeom>
            <a:gradFill>
              <a:gsLst>
                <a:gs pos="0">
                  <a:schemeClr val="tx1">
                    <a:alpha val="28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E5B10F9-64AA-DF17-47F1-446C85D8461B}"/>
                </a:ext>
              </a:extLst>
            </p:cNvPr>
            <p:cNvSpPr/>
            <p:nvPr/>
          </p:nvSpPr>
          <p:spPr>
            <a:xfrm>
              <a:off x="3124200" y="4152900"/>
              <a:ext cx="5943600" cy="397252"/>
            </a:xfrm>
            <a:prstGeom prst="rect">
              <a:avLst/>
            </a:prstGeom>
            <a:gradFill>
              <a:gsLst>
                <a:gs pos="0">
                  <a:schemeClr val="tx1">
                    <a:alpha val="28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318E346-AD27-B8DA-BDB6-57BF7A9A4F45}"/>
              </a:ext>
            </a:extLst>
          </p:cNvPr>
          <p:cNvGrpSpPr/>
          <p:nvPr/>
        </p:nvGrpSpPr>
        <p:grpSpPr>
          <a:xfrm>
            <a:off x="1963947" y="1588343"/>
            <a:ext cx="3375353" cy="1866220"/>
            <a:chOff x="1942188" y="835049"/>
            <a:chExt cx="3375353" cy="1866220"/>
          </a:xfrm>
        </p:grpSpPr>
        <p:sp useBgFill="1"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2E2D6D7-4AAB-AA99-6E6E-468837EC50AE}"/>
                </a:ext>
              </a:extLst>
            </p:cNvPr>
            <p:cNvSpPr/>
            <p:nvPr/>
          </p:nvSpPr>
          <p:spPr>
            <a:xfrm rot="21245114">
              <a:off x="1942188" y="835049"/>
              <a:ext cx="3349697" cy="1866220"/>
            </a:xfrm>
            <a:prstGeom prst="roundRect">
              <a:avLst/>
            </a:prstGeom>
            <a:ln>
              <a:solidFill>
                <a:schemeClr val="accent4">
                  <a:lumMod val="20000"/>
                  <a:lumOff val="80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00">
                <a:latin typeface="Pretendard"/>
              </a:endParaRPr>
            </a:p>
          </p:txBody>
        </p:sp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908B94BF-C5EA-C1B2-E629-B0DBC04DDB37}"/>
                </a:ext>
              </a:extLst>
            </p:cNvPr>
            <p:cNvSpPr/>
            <p:nvPr/>
          </p:nvSpPr>
          <p:spPr>
            <a:xfrm rot="21240000">
              <a:off x="2112169" y="1090462"/>
              <a:ext cx="1786900" cy="335902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Pretendard"/>
                </a:rPr>
                <a:t>LANGUAGE</a:t>
              </a:r>
              <a:endParaRPr lang="ko-KR" altLang="en-US" b="1">
                <a:solidFill>
                  <a:schemeClr val="tx1"/>
                </a:solidFill>
                <a:latin typeface="Pretendard"/>
              </a:endParaRP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EBA0E9CC-54DB-C749-D312-2ACDCA76AC5B}"/>
                </a:ext>
              </a:extLst>
            </p:cNvPr>
            <p:cNvSpPr/>
            <p:nvPr/>
          </p:nvSpPr>
          <p:spPr>
            <a:xfrm rot="21240000">
              <a:off x="2002276" y="1092122"/>
              <a:ext cx="3315265" cy="1352072"/>
            </a:xfrm>
            <a:prstGeom prst="roundRect">
              <a:avLst/>
            </a:prstGeom>
            <a:solidFill>
              <a:schemeClr val="accent4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>
                  <a:solidFill>
                    <a:schemeClr val="bg1"/>
                  </a:solidFill>
                  <a:latin typeface="Pretendard"/>
                </a:rPr>
                <a:t>Description :</a:t>
              </a: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ko-KR" altLang="en-US" sz="1200">
                <a:solidFill>
                  <a:schemeClr val="bg1"/>
                </a:solidFill>
                <a:latin typeface="Pretendard"/>
              </a:endParaRPr>
            </a:p>
          </p:txBody>
        </p:sp>
        <p:sp>
          <p:nvSpPr>
            <p:cNvPr id="41" name="순서도: 수행의 시작/종료 40">
              <a:extLst>
                <a:ext uri="{FF2B5EF4-FFF2-40B4-BE49-F238E27FC236}">
                  <a16:creationId xmlns:a16="http://schemas.microsoft.com/office/drawing/2014/main" id="{8424259F-ABE1-1F9C-B0B0-F16F44F5FE7E}"/>
                </a:ext>
              </a:extLst>
            </p:cNvPr>
            <p:cNvSpPr/>
            <p:nvPr/>
          </p:nvSpPr>
          <p:spPr>
            <a:xfrm rot="21240000">
              <a:off x="2269211" y="2417425"/>
              <a:ext cx="886408" cy="220704"/>
            </a:xfrm>
            <a:prstGeom prst="flowChartTerminator">
              <a:avLst/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latin typeface="Pretendard"/>
                </a:rPr>
                <a:t>Git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42" name="순서도: 수행의 시작/종료 41">
              <a:extLst>
                <a:ext uri="{FF2B5EF4-FFF2-40B4-BE49-F238E27FC236}">
                  <a16:creationId xmlns:a16="http://schemas.microsoft.com/office/drawing/2014/main" id="{CC6BB9FA-9149-0388-CDA6-B26F5849513A}"/>
                </a:ext>
              </a:extLst>
            </p:cNvPr>
            <p:cNvSpPr/>
            <p:nvPr/>
          </p:nvSpPr>
          <p:spPr>
            <a:xfrm rot="21240000">
              <a:off x="3241768" y="2318824"/>
              <a:ext cx="886408" cy="220704"/>
            </a:xfrm>
            <a:prstGeom prst="flowChartTerminator">
              <a:avLst/>
            </a:prstGeom>
            <a:solidFill>
              <a:schemeClr val="accent4">
                <a:alpha val="2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err="1">
                  <a:latin typeface="Pretendard"/>
                </a:rPr>
                <a:t>Youtube</a:t>
              </a:r>
              <a:endParaRPr lang="ko-KR" altLang="en-US" sz="1000">
                <a:latin typeface="Pretendard"/>
              </a:endParaRP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D4B8639-F4C2-AC4C-866F-DFC004A4CDC8}"/>
              </a:ext>
            </a:extLst>
          </p:cNvPr>
          <p:cNvGrpSpPr/>
          <p:nvPr/>
        </p:nvGrpSpPr>
        <p:grpSpPr>
          <a:xfrm>
            <a:off x="6483753" y="4097065"/>
            <a:ext cx="3384147" cy="1866220"/>
            <a:chOff x="7439829" y="2251600"/>
            <a:chExt cx="3384147" cy="1866220"/>
          </a:xfrm>
        </p:grpSpPr>
        <p:sp useBgFill="1"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4C64DDDE-EB7A-5BE4-9A50-35DD91478A38}"/>
                </a:ext>
              </a:extLst>
            </p:cNvPr>
            <p:cNvSpPr/>
            <p:nvPr/>
          </p:nvSpPr>
          <p:spPr>
            <a:xfrm rot="1074278">
              <a:off x="7439829" y="2251600"/>
              <a:ext cx="3349697" cy="1866220"/>
            </a:xfrm>
            <a:prstGeom prst="roundRect">
              <a:avLst/>
            </a:prstGeom>
            <a:ln>
              <a:solidFill>
                <a:schemeClr val="accent6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00">
                <a:latin typeface="Pretendard"/>
              </a:endParaRPr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CB0190B6-1128-D7DB-62F5-C8A33F928566}"/>
                </a:ext>
              </a:extLst>
            </p:cNvPr>
            <p:cNvSpPr/>
            <p:nvPr/>
          </p:nvSpPr>
          <p:spPr>
            <a:xfrm rot="1080000">
              <a:off x="7832857" y="2319301"/>
              <a:ext cx="2027715" cy="335902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Pretendard"/>
                </a:rPr>
                <a:t>DATA PROCESSING</a:t>
              </a:r>
              <a:endParaRPr lang="ko-KR" altLang="en-US" b="1">
                <a:solidFill>
                  <a:schemeClr val="tx1"/>
                </a:solidFill>
                <a:latin typeface="Pretendard"/>
              </a:endParaRPr>
            </a:p>
          </p:txBody>
        </p:sp>
        <p:sp>
          <p:nvSpPr>
            <p:cNvPr id="46" name="순서도: 수행의 시작/종료 45">
              <a:extLst>
                <a:ext uri="{FF2B5EF4-FFF2-40B4-BE49-F238E27FC236}">
                  <a16:creationId xmlns:a16="http://schemas.microsoft.com/office/drawing/2014/main" id="{11BA16B2-8B05-BBAB-DBC7-9B5F4B7CC830}"/>
                </a:ext>
              </a:extLst>
            </p:cNvPr>
            <p:cNvSpPr/>
            <p:nvPr/>
          </p:nvSpPr>
          <p:spPr>
            <a:xfrm rot="1080000">
              <a:off x="7480680" y="3381632"/>
              <a:ext cx="886408" cy="220704"/>
            </a:xfrm>
            <a:prstGeom prst="flowChartTerminator">
              <a:avLst/>
            </a:prstGeom>
            <a:solidFill>
              <a:schemeClr val="accent6">
                <a:alpha val="2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latin typeface="Pretendard"/>
                </a:rPr>
                <a:t>Git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47" name="순서도: 수행의 시작/종료 46">
              <a:extLst>
                <a:ext uri="{FF2B5EF4-FFF2-40B4-BE49-F238E27FC236}">
                  <a16:creationId xmlns:a16="http://schemas.microsoft.com/office/drawing/2014/main" id="{6B1CEBA3-D4CF-4EE9-218E-DF9DC7CDE350}"/>
                </a:ext>
              </a:extLst>
            </p:cNvPr>
            <p:cNvSpPr/>
            <p:nvPr/>
          </p:nvSpPr>
          <p:spPr>
            <a:xfrm rot="1080000">
              <a:off x="8421181" y="3688168"/>
              <a:ext cx="886408" cy="220704"/>
            </a:xfrm>
            <a:prstGeom prst="flowChartTerminator">
              <a:avLst/>
            </a:prstGeom>
            <a:solidFill>
              <a:schemeClr val="accent6">
                <a:alpha val="2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err="1">
                  <a:latin typeface="Pretendard"/>
                </a:rPr>
                <a:t>Youtube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15D89D2E-D779-1D2A-1E87-4F54F2DB37A1}"/>
                </a:ext>
              </a:extLst>
            </p:cNvPr>
            <p:cNvSpPr/>
            <p:nvPr/>
          </p:nvSpPr>
          <p:spPr>
            <a:xfrm rot="1080000">
              <a:off x="7508711" y="2534977"/>
              <a:ext cx="3315265" cy="1352072"/>
            </a:xfrm>
            <a:prstGeom prst="roundRect">
              <a:avLst/>
            </a:prstGeom>
            <a:solidFill>
              <a:schemeClr val="accent4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>
                  <a:solidFill>
                    <a:schemeClr val="bg1"/>
                  </a:solidFill>
                  <a:latin typeface="Pretendard"/>
                </a:rPr>
                <a:t>Description :</a:t>
              </a: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ko-KR" altLang="en-US" sz="1200">
                <a:solidFill>
                  <a:schemeClr val="bg1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2941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20"/>
                    </a14:imgEffect>
                    <a14:imgEffect>
                      <a14:brightnessContrast bright="4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2B44E-9873-65F0-9451-9B41D182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그룹 35">
            <a:extLst>
              <a:ext uri="{FF2B5EF4-FFF2-40B4-BE49-F238E27FC236}">
                <a16:creationId xmlns:a16="http://schemas.microsoft.com/office/drawing/2014/main" id="{732124C0-7270-A92C-BFA1-00590C44029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389A4A9-F8A1-DE4C-AFAF-6ECC8933230C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6FC1661-B64D-0315-E64D-2B6C240A8D70}"/>
                </a:ext>
              </a:extLst>
            </p:cNvPr>
            <p:cNvSpPr txBox="1"/>
            <p:nvPr/>
          </p:nvSpPr>
          <p:spPr>
            <a:xfrm>
              <a:off x="2590800" y="2031623"/>
              <a:ext cx="70104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0">
                  <a:solidFill>
                    <a:srgbClr val="0035AC"/>
                  </a:solidFill>
                  <a:latin typeface="Pretendard"/>
                </a:rPr>
                <a:t>Portfolio</a:t>
              </a:r>
              <a:endParaRPr lang="ko-KR" altLang="en-US" sz="11000">
                <a:solidFill>
                  <a:srgbClr val="0035AC"/>
                </a:solidFill>
                <a:latin typeface="Pretendard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C2B7F7-17CE-7F39-DDCF-90BAF1926AB7}"/>
                </a:ext>
              </a:extLst>
            </p:cNvPr>
            <p:cNvSpPr txBox="1"/>
            <p:nvPr/>
          </p:nvSpPr>
          <p:spPr>
            <a:xfrm>
              <a:off x="2590800" y="3041273"/>
              <a:ext cx="7010400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0">
                  <a:solidFill>
                    <a:srgbClr val="0035AC"/>
                  </a:solidFill>
                  <a:latin typeface="Pretendard"/>
                </a:rPr>
                <a:t>Tech Stack</a:t>
              </a:r>
              <a:endParaRPr lang="ko-KR" altLang="en-US" sz="11000">
                <a:solidFill>
                  <a:srgbClr val="0035AC"/>
                </a:solidFill>
                <a:latin typeface="Pretendard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4BF345A-D8C2-DB87-C37C-A4B24085DE4C}"/>
                </a:ext>
              </a:extLst>
            </p:cNvPr>
            <p:cNvSpPr/>
            <p:nvPr/>
          </p:nvSpPr>
          <p:spPr>
            <a:xfrm>
              <a:off x="3076575" y="3041272"/>
              <a:ext cx="5943600" cy="387727"/>
            </a:xfrm>
            <a:prstGeom prst="rect">
              <a:avLst/>
            </a:prstGeom>
            <a:gradFill>
              <a:gsLst>
                <a:gs pos="0">
                  <a:schemeClr val="tx1">
                    <a:alpha val="28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548672A-1987-EA12-1967-9E53158B31E1}"/>
                </a:ext>
              </a:extLst>
            </p:cNvPr>
            <p:cNvSpPr/>
            <p:nvPr/>
          </p:nvSpPr>
          <p:spPr>
            <a:xfrm>
              <a:off x="3124200" y="4152900"/>
              <a:ext cx="5943600" cy="397252"/>
            </a:xfrm>
            <a:prstGeom prst="rect">
              <a:avLst/>
            </a:prstGeom>
            <a:gradFill>
              <a:gsLst>
                <a:gs pos="0">
                  <a:schemeClr val="tx1">
                    <a:alpha val="28000"/>
                  </a:schemeClr>
                </a:gs>
                <a:gs pos="100000">
                  <a:schemeClr val="tx1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18087FE-8E52-44EE-B3DA-5F7551242AC3}"/>
              </a:ext>
            </a:extLst>
          </p:cNvPr>
          <p:cNvGrpSpPr/>
          <p:nvPr/>
        </p:nvGrpSpPr>
        <p:grpSpPr>
          <a:xfrm rot="21248556">
            <a:off x="2363742" y="1916756"/>
            <a:ext cx="3360671" cy="1866220"/>
            <a:chOff x="3086254" y="4443460"/>
            <a:chExt cx="3360671" cy="1866220"/>
          </a:xfrm>
        </p:grpSpPr>
        <p:sp useBgFill="1"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A6982136-E975-6B8F-FFE4-2DB3BC034321}"/>
                </a:ext>
              </a:extLst>
            </p:cNvPr>
            <p:cNvSpPr/>
            <p:nvPr/>
          </p:nvSpPr>
          <p:spPr>
            <a:xfrm rot="517024">
              <a:off x="3086254" y="4443460"/>
              <a:ext cx="3349697" cy="1866220"/>
            </a:xfrm>
            <a:prstGeom prst="roundRect">
              <a:avLst/>
            </a:prstGeom>
            <a:ln>
              <a:solidFill>
                <a:srgbClr val="7030A0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00">
                <a:latin typeface="Pretendard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A035993D-C8F6-13A4-B4C1-B3CF7713F59B}"/>
                </a:ext>
              </a:extLst>
            </p:cNvPr>
            <p:cNvSpPr/>
            <p:nvPr/>
          </p:nvSpPr>
          <p:spPr>
            <a:xfrm rot="540000">
              <a:off x="3373074" y="4556833"/>
              <a:ext cx="1786900" cy="335902"/>
            </a:xfrm>
            <a:prstGeom prst="roundRect">
              <a:avLst/>
            </a:prstGeom>
            <a:solidFill>
              <a:srgbClr val="EC7C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Pretendard"/>
                </a:rPr>
                <a:t>STORAGE</a:t>
              </a:r>
              <a:endParaRPr lang="ko-KR" altLang="en-US" b="1">
                <a:solidFill>
                  <a:schemeClr val="tx1"/>
                </a:solidFill>
                <a:latin typeface="Pretendard"/>
              </a:endParaRPr>
            </a:p>
          </p:txBody>
        </p:sp>
        <p:sp>
          <p:nvSpPr>
            <p:cNvPr id="52" name="순서도: 수행의 시작/종료 51">
              <a:extLst>
                <a:ext uri="{FF2B5EF4-FFF2-40B4-BE49-F238E27FC236}">
                  <a16:creationId xmlns:a16="http://schemas.microsoft.com/office/drawing/2014/main" id="{65E19130-86AB-4CBC-A301-04EF0059888A}"/>
                </a:ext>
              </a:extLst>
            </p:cNvPr>
            <p:cNvSpPr/>
            <p:nvPr/>
          </p:nvSpPr>
          <p:spPr>
            <a:xfrm rot="540000">
              <a:off x="3173832" y="5770264"/>
              <a:ext cx="886408" cy="220704"/>
            </a:xfrm>
            <a:prstGeom prst="flowChartTerminator">
              <a:avLst/>
            </a:prstGeom>
            <a:solidFill>
              <a:srgbClr val="EC7CE7">
                <a:alpha val="20000"/>
              </a:srgbClr>
            </a:solidFill>
            <a:ln>
              <a:solidFill>
                <a:srgbClr val="C50B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latin typeface="Pretendard"/>
                </a:rPr>
                <a:t>Git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53" name="순서도: 수행의 시작/종료 52">
              <a:extLst>
                <a:ext uri="{FF2B5EF4-FFF2-40B4-BE49-F238E27FC236}">
                  <a16:creationId xmlns:a16="http://schemas.microsoft.com/office/drawing/2014/main" id="{E0CE7BF0-BBDB-E8F2-8545-6B2DC881E30E}"/>
                </a:ext>
              </a:extLst>
            </p:cNvPr>
            <p:cNvSpPr/>
            <p:nvPr/>
          </p:nvSpPr>
          <p:spPr>
            <a:xfrm rot="540000">
              <a:off x="4123665" y="5920559"/>
              <a:ext cx="886408" cy="220704"/>
            </a:xfrm>
            <a:prstGeom prst="flowChartTerminator">
              <a:avLst/>
            </a:prstGeom>
            <a:solidFill>
              <a:srgbClr val="EC7CE7">
                <a:alpha val="20000"/>
              </a:srgbClr>
            </a:solidFill>
            <a:ln>
              <a:solidFill>
                <a:srgbClr val="C50B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err="1">
                  <a:latin typeface="Pretendard"/>
                </a:rPr>
                <a:t>Youtube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B35944AB-13E9-B2C6-4497-684C8BFEEEC8}"/>
                </a:ext>
              </a:extLst>
            </p:cNvPr>
            <p:cNvSpPr/>
            <p:nvPr/>
          </p:nvSpPr>
          <p:spPr>
            <a:xfrm rot="540000">
              <a:off x="3131660" y="4691575"/>
              <a:ext cx="3315265" cy="1352072"/>
            </a:xfrm>
            <a:prstGeom prst="roundRect">
              <a:avLst/>
            </a:prstGeom>
            <a:solidFill>
              <a:schemeClr val="accent4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>
                  <a:solidFill>
                    <a:schemeClr val="bg1"/>
                  </a:solidFill>
                  <a:latin typeface="Pretendard"/>
                </a:rPr>
                <a:t>Description :</a:t>
              </a: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ko-KR" altLang="en-US" sz="1200">
                <a:solidFill>
                  <a:schemeClr val="bg1"/>
                </a:solidFill>
                <a:latin typeface="Pretendard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63E29ACF-5A07-65B3-E4E2-B762ED6ADF77}"/>
              </a:ext>
            </a:extLst>
          </p:cNvPr>
          <p:cNvGrpSpPr/>
          <p:nvPr/>
        </p:nvGrpSpPr>
        <p:grpSpPr>
          <a:xfrm rot="20653848">
            <a:off x="6749070" y="3942564"/>
            <a:ext cx="3359609" cy="1866220"/>
            <a:chOff x="7306543" y="4781420"/>
            <a:chExt cx="3359609" cy="1866220"/>
          </a:xfrm>
        </p:grpSpPr>
        <p:sp useBgFill="1"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062A3D8E-DBFF-464D-56DA-89DDF03C8A71}"/>
                </a:ext>
              </a:extLst>
            </p:cNvPr>
            <p:cNvSpPr/>
            <p:nvPr/>
          </p:nvSpPr>
          <p:spPr>
            <a:xfrm rot="165580">
              <a:off x="7306543" y="4781420"/>
              <a:ext cx="3349697" cy="1866220"/>
            </a:xfrm>
            <a:prstGeom prst="roundRect">
              <a:avLst/>
            </a:prstGeom>
            <a:ln>
              <a:solidFill>
                <a:schemeClr val="accent1"/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400000">
                <a:latin typeface="Pretendard"/>
              </a:endParaRPr>
            </a:p>
          </p:txBody>
        </p:sp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7F84D4BF-FA15-A2B6-BD58-627A5A581D48}"/>
                </a:ext>
              </a:extLst>
            </p:cNvPr>
            <p:cNvSpPr/>
            <p:nvPr/>
          </p:nvSpPr>
          <p:spPr>
            <a:xfrm rot="188556">
              <a:off x="7529428" y="4948669"/>
              <a:ext cx="1786900" cy="335902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>
                  <a:solidFill>
                    <a:schemeClr val="tx1"/>
                  </a:solidFill>
                  <a:latin typeface="Pretendard"/>
                </a:rPr>
                <a:t>INFRA &amp; OPS</a:t>
              </a:r>
              <a:endParaRPr lang="ko-KR" altLang="en-US" b="1">
                <a:solidFill>
                  <a:schemeClr val="tx1"/>
                </a:solidFill>
                <a:latin typeface="Pretendard"/>
              </a:endParaRPr>
            </a:p>
          </p:txBody>
        </p:sp>
        <p:sp>
          <p:nvSpPr>
            <p:cNvPr id="59" name="순서도: 수행의 시작/종료 58">
              <a:extLst>
                <a:ext uri="{FF2B5EF4-FFF2-40B4-BE49-F238E27FC236}">
                  <a16:creationId xmlns:a16="http://schemas.microsoft.com/office/drawing/2014/main" id="{D9FDCB6F-FFE5-EBF8-0F07-FD66AB7DEE65}"/>
                </a:ext>
              </a:extLst>
            </p:cNvPr>
            <p:cNvSpPr/>
            <p:nvPr/>
          </p:nvSpPr>
          <p:spPr>
            <a:xfrm rot="188556">
              <a:off x="7451533" y="6222348"/>
              <a:ext cx="886408" cy="220704"/>
            </a:xfrm>
            <a:prstGeom prst="flowChartTerminator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>
                  <a:latin typeface="Pretendard"/>
                </a:rPr>
                <a:t>Git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60" name="순서도: 수행의 시작/종료 59">
              <a:extLst>
                <a:ext uri="{FF2B5EF4-FFF2-40B4-BE49-F238E27FC236}">
                  <a16:creationId xmlns:a16="http://schemas.microsoft.com/office/drawing/2014/main" id="{95622E32-8204-136A-9827-3124E1A344CA}"/>
                </a:ext>
              </a:extLst>
            </p:cNvPr>
            <p:cNvSpPr/>
            <p:nvPr/>
          </p:nvSpPr>
          <p:spPr>
            <a:xfrm rot="188556">
              <a:off x="8411745" y="6274925"/>
              <a:ext cx="886408" cy="220704"/>
            </a:xfrm>
            <a:prstGeom prst="flowChartTerminator">
              <a:avLst/>
            </a:prstGeom>
            <a:solidFill>
              <a:srgbClr val="00B0F0">
                <a:alpha val="2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err="1">
                  <a:latin typeface="Pretendard"/>
                </a:rPr>
                <a:t>Youtube</a:t>
              </a:r>
              <a:endParaRPr lang="ko-KR" altLang="en-US" sz="1000">
                <a:latin typeface="Pretendard"/>
              </a:endParaRP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E429A5BE-702C-76ED-7F5D-8E1AC3C47BAB}"/>
                </a:ext>
              </a:extLst>
            </p:cNvPr>
            <p:cNvSpPr/>
            <p:nvPr/>
          </p:nvSpPr>
          <p:spPr>
            <a:xfrm rot="188556">
              <a:off x="7350887" y="5026705"/>
              <a:ext cx="3315265" cy="1352072"/>
            </a:xfrm>
            <a:prstGeom prst="roundRect">
              <a:avLst/>
            </a:prstGeom>
            <a:solidFill>
              <a:schemeClr val="accent4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200">
                  <a:solidFill>
                    <a:schemeClr val="bg1"/>
                  </a:solidFill>
                  <a:latin typeface="Pretendard"/>
                </a:rPr>
                <a:t>Description :</a:t>
              </a: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en-US" altLang="ko-KR" sz="1200">
                <a:solidFill>
                  <a:schemeClr val="bg1"/>
                </a:solidFill>
                <a:latin typeface="Pretendard"/>
              </a:endParaRPr>
            </a:p>
            <a:p>
              <a:endParaRPr lang="ko-KR" altLang="en-US" sz="1200">
                <a:solidFill>
                  <a:schemeClr val="bg1"/>
                </a:solidFill>
                <a:latin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6382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91DF7E-3214-4FAF-2A5E-11433B97E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성장 과정 요약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2711B64A-6593-1BF0-EA62-7670730FE9DC}"/>
              </a:ext>
            </a:extLst>
          </p:cNvPr>
          <p:cNvSpPr txBox="1">
            <a:spLocks/>
          </p:cNvSpPr>
          <p:nvPr/>
        </p:nvSpPr>
        <p:spPr>
          <a:xfrm>
            <a:off x="838200" y="1448858"/>
            <a:ext cx="10515600" cy="48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설명 </a:t>
            </a:r>
            <a:r>
              <a:rPr lang="en-US" altLang="ko-KR" sz="3200"/>
              <a:t>– </a:t>
            </a:r>
            <a:r>
              <a:rPr lang="ko-KR" altLang="en-US" sz="3200"/>
              <a:t>중앙에 포트 폴리오 </a:t>
            </a:r>
            <a:r>
              <a:rPr lang="en-US" altLang="ko-KR" sz="3200"/>
              <a:t>projects</a:t>
            </a:r>
            <a:r>
              <a:rPr lang="ko-KR" altLang="en-US" sz="3200"/>
              <a:t>가 나오고 왼쪽에 연대기를 나타내는 실을 스크롤을 내릴 수록 물 밑으로 내려오는 감성으로 내려간다</a:t>
            </a:r>
            <a:r>
              <a:rPr lang="en-US" altLang="ko-KR" sz="3200"/>
              <a:t>. (</a:t>
            </a:r>
            <a:r>
              <a:rPr lang="ko-KR" altLang="en-US" sz="3200"/>
              <a:t>내려갈때 실은 따라 내려오지만 중앙 글자는 사라진다</a:t>
            </a:r>
            <a:r>
              <a:rPr lang="en-US" altLang="ko-KR" sz="3200"/>
              <a:t>.)</a:t>
            </a:r>
          </a:p>
          <a:p>
            <a:r>
              <a:rPr lang="ko-KR" altLang="en-US" sz="3200"/>
              <a:t>어느 정도 프로젝트 상세 부분에 도착시 년도가 나오고 그 프로젝트에 대해 상세 설명 메인에서 처음 프로젝트까지 느낌으로</a:t>
            </a:r>
            <a:r>
              <a:rPr lang="en-US" altLang="ko-KR" sz="3200"/>
              <a:t>.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2801763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EAEF81-ADD7-EC9F-EF00-08A44099A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상세</a:t>
            </a:r>
            <a:r>
              <a:rPr lang="en-US" altLang="ko-KR"/>
              <a:t>(</a:t>
            </a:r>
            <a:r>
              <a:rPr lang="ko-KR" altLang="en-US"/>
              <a:t>메인 프로젝트</a:t>
            </a:r>
            <a:r>
              <a:rPr lang="en-US" altLang="ko-KR"/>
              <a:t>) - </a:t>
            </a:r>
            <a:r>
              <a:rPr lang="ko-KR" altLang="en-US"/>
              <a:t>다티부스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0487728-9761-D318-3C9F-5E09E9438F4B}"/>
              </a:ext>
            </a:extLst>
          </p:cNvPr>
          <p:cNvSpPr txBox="1">
            <a:spLocks/>
          </p:cNvSpPr>
          <p:nvPr/>
        </p:nvSpPr>
        <p:spPr>
          <a:xfrm>
            <a:off x="838200" y="1448858"/>
            <a:ext cx="10515600" cy="48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600"/>
              <a:t>설명</a:t>
            </a:r>
            <a:endParaRPr lang="en-US" altLang="ko-KR" sz="1600"/>
          </a:p>
          <a:p>
            <a:r>
              <a:rPr lang="ko-KR" altLang="en-US" sz="1600"/>
              <a:t>개요 </a:t>
            </a:r>
            <a:r>
              <a:rPr lang="en-US" altLang="ko-KR" sz="1600"/>
              <a:t>– </a:t>
            </a:r>
            <a:r>
              <a:rPr lang="ko-KR" altLang="en-US" sz="1600"/>
              <a:t>프로젝트 명</a:t>
            </a:r>
            <a:r>
              <a:rPr lang="en-US" altLang="ko-KR" sz="1600"/>
              <a:t>, </a:t>
            </a:r>
            <a:r>
              <a:rPr lang="ko-KR" altLang="en-US" sz="1600"/>
              <a:t>기간</a:t>
            </a:r>
            <a:r>
              <a:rPr lang="en-US" altLang="ko-KR" sz="1600"/>
              <a:t>, </a:t>
            </a:r>
            <a:r>
              <a:rPr lang="ko-KR" altLang="en-US" sz="1600"/>
              <a:t>역할 </a:t>
            </a:r>
            <a:r>
              <a:rPr lang="en-US" altLang="ko-KR" sz="1600"/>
              <a:t>(</a:t>
            </a:r>
            <a:r>
              <a:rPr lang="ko-KR" altLang="en-US" sz="1600"/>
              <a:t>단독</a:t>
            </a:r>
            <a:r>
              <a:rPr lang="en-US" altLang="ko-KR" sz="1600"/>
              <a:t>/</a:t>
            </a:r>
            <a:r>
              <a:rPr lang="ko-KR" altLang="en-US" sz="1600"/>
              <a:t>팀 </a:t>
            </a:r>
            <a:r>
              <a:rPr lang="en-US" altLang="ko-KR" sz="1600"/>
              <a:t>– </a:t>
            </a:r>
            <a:r>
              <a:rPr lang="ko-KR" altLang="en-US" sz="1600"/>
              <a:t>팀이면 본인 담당 범위 명시</a:t>
            </a:r>
            <a:r>
              <a:rPr lang="en-US" altLang="ko-KR" sz="1600"/>
              <a:t>) , </a:t>
            </a:r>
            <a:r>
              <a:rPr lang="ko-KR" altLang="en-US" sz="1600"/>
              <a:t>사용 기술 스택</a:t>
            </a:r>
            <a:endParaRPr lang="en-US" altLang="ko-KR" sz="1600"/>
          </a:p>
          <a:p>
            <a:r>
              <a:rPr lang="ko-KR" altLang="en-US" sz="1600"/>
              <a:t>한 줄 임팩트 요약</a:t>
            </a:r>
            <a:endParaRPr lang="en-US" altLang="ko-KR" sz="1600"/>
          </a:p>
          <a:p>
            <a:endParaRPr lang="en-US" altLang="ko-KR" sz="1600"/>
          </a:p>
          <a:p>
            <a:r>
              <a:rPr lang="ko-KR" altLang="en-US" sz="1600"/>
              <a:t>문제 정의 </a:t>
            </a:r>
            <a:r>
              <a:rPr lang="en-US" altLang="ko-KR" sz="1600"/>
              <a:t>+ </a:t>
            </a:r>
            <a:r>
              <a:rPr lang="ko-KR" altLang="en-US" sz="1600"/>
              <a:t>아키텍처</a:t>
            </a:r>
            <a:endParaRPr lang="en-US" altLang="ko-KR" sz="1600"/>
          </a:p>
          <a:p>
            <a:r>
              <a:rPr lang="en-US" altLang="ko-KR" sz="1600"/>
              <a:t>- </a:t>
            </a:r>
            <a:r>
              <a:rPr lang="ko-KR" altLang="en-US" sz="1600"/>
              <a:t>이전 상황 </a:t>
            </a:r>
            <a:r>
              <a:rPr lang="en-US" altLang="ko-KR" sz="1600"/>
              <a:t>+ </a:t>
            </a:r>
            <a:r>
              <a:rPr lang="ko-KR" altLang="en-US" sz="1600"/>
              <a:t>전체 아키텍처 다이어그램</a:t>
            </a:r>
            <a:r>
              <a:rPr lang="en-US" altLang="ko-KR" sz="1600"/>
              <a:t>(</a:t>
            </a:r>
            <a:r>
              <a:rPr lang="ko-KR" altLang="en-US" sz="1600"/>
              <a:t>데이터 흐름 그림</a:t>
            </a:r>
            <a:r>
              <a:rPr lang="en-US" altLang="ko-KR" sz="1600"/>
              <a:t>, </a:t>
            </a:r>
            <a:r>
              <a:rPr lang="ko-KR" altLang="en-US" sz="1600"/>
              <a:t>텍스트 최소화</a:t>
            </a:r>
            <a:r>
              <a:rPr lang="en-US" altLang="ko-KR" sz="1600"/>
              <a:t>)</a:t>
            </a:r>
          </a:p>
          <a:p>
            <a:endParaRPr lang="en-US" altLang="ko-KR" sz="1600"/>
          </a:p>
          <a:p>
            <a:r>
              <a:rPr lang="ko-KR" altLang="en-US" sz="1600"/>
              <a:t>기술적 의사결정 </a:t>
            </a:r>
            <a:r>
              <a:rPr lang="en-US" altLang="ko-KR" sz="1600"/>
              <a:t>– </a:t>
            </a:r>
            <a:r>
              <a:rPr lang="ko-KR" altLang="en-US" sz="1600"/>
              <a:t>왜 이 기술을 선택햇는지</a:t>
            </a:r>
            <a:r>
              <a:rPr lang="en-US" altLang="ko-KR" sz="1600"/>
              <a:t>, </a:t>
            </a:r>
            <a:r>
              <a:rPr lang="ko-KR" altLang="en-US" sz="1600"/>
              <a:t>파티셔닝</a:t>
            </a:r>
            <a:r>
              <a:rPr lang="en-US" altLang="ko-KR" sz="1600"/>
              <a:t>, </a:t>
            </a:r>
            <a:r>
              <a:rPr lang="ko-KR" altLang="en-US" sz="1600"/>
              <a:t>스키마 설계 등 구조적 판단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트러블슈팅 </a:t>
            </a:r>
            <a:r>
              <a:rPr lang="en-US" altLang="ko-KR" sz="1600"/>
              <a:t>+ </a:t>
            </a:r>
            <a:r>
              <a:rPr lang="ko-KR" altLang="en-US" sz="1600"/>
              <a:t>성과</a:t>
            </a:r>
            <a:endParaRPr lang="en-US" altLang="ko-KR" sz="1600"/>
          </a:p>
          <a:p>
            <a:pPr marL="285750" indent="-285750">
              <a:buFontTx/>
              <a:buChar char="-"/>
            </a:pPr>
            <a:r>
              <a:rPr lang="ko-KR" altLang="en-US" sz="1600"/>
              <a:t>실제 격은 문제 </a:t>
            </a:r>
            <a:r>
              <a:rPr lang="en-US" altLang="ko-KR" sz="1600"/>
              <a:t>1~2</a:t>
            </a:r>
            <a:r>
              <a:rPr lang="ko-KR" altLang="en-US" sz="1600"/>
              <a:t>개와 해결 과정</a:t>
            </a:r>
            <a:r>
              <a:rPr lang="en-US" altLang="ko-KR" sz="1600"/>
              <a:t>(</a:t>
            </a:r>
            <a:r>
              <a:rPr lang="ko-KR" altLang="en-US" sz="1600"/>
              <a:t>원인 분석 </a:t>
            </a:r>
            <a:r>
              <a:rPr lang="en-US" altLang="ko-KR" sz="1600"/>
              <a:t>– </a:t>
            </a:r>
            <a:r>
              <a:rPr lang="ko-KR" altLang="en-US" sz="1600"/>
              <a:t>조치 </a:t>
            </a:r>
            <a:r>
              <a:rPr lang="en-US" altLang="ko-KR" sz="1600"/>
              <a:t>– </a:t>
            </a:r>
            <a:r>
              <a:rPr lang="ko-KR" altLang="en-US" sz="1600"/>
              <a:t>결과</a:t>
            </a:r>
            <a:r>
              <a:rPr lang="en-US" altLang="ko-KR" sz="1600"/>
              <a:t>)</a:t>
            </a:r>
          </a:p>
          <a:p>
            <a:pPr marL="285750" indent="-285750">
              <a:buFontTx/>
              <a:buChar char="-"/>
            </a:pPr>
            <a:r>
              <a:rPr lang="en-US" altLang="ko-KR" sz="1600"/>
              <a:t>BEFORE/AFTER </a:t>
            </a:r>
            <a:r>
              <a:rPr lang="ko-KR" altLang="en-US" sz="1600"/>
              <a:t>수치 </a:t>
            </a:r>
            <a:r>
              <a:rPr lang="en-US" altLang="ko-KR" sz="1600"/>
              <a:t>3</a:t>
            </a:r>
            <a:r>
              <a:rPr lang="ko-KR" altLang="en-US" sz="1600"/>
              <a:t>개 정도 </a:t>
            </a:r>
            <a:r>
              <a:rPr lang="en-US" altLang="ko-KR" sz="1600"/>
              <a:t>(</a:t>
            </a:r>
            <a:r>
              <a:rPr lang="ko-KR" altLang="en-US" sz="1600"/>
              <a:t>지연시간</a:t>
            </a:r>
            <a:r>
              <a:rPr lang="en-US" altLang="ko-KR" sz="1600"/>
              <a:t>, </a:t>
            </a:r>
            <a:r>
              <a:rPr lang="ko-KR" altLang="en-US" sz="1600"/>
              <a:t>처리량</a:t>
            </a:r>
            <a:r>
              <a:rPr lang="en-US" altLang="ko-KR" sz="1600"/>
              <a:t>, </a:t>
            </a:r>
            <a:r>
              <a:rPr lang="ko-KR" altLang="en-US" sz="1600"/>
              <a:t>비용 등</a:t>
            </a:r>
            <a:r>
              <a:rPr lang="en-US" altLang="ko-KR" sz="1600"/>
              <a:t>)</a:t>
            </a:r>
          </a:p>
          <a:p>
            <a:pPr marL="285750" indent="-285750">
              <a:buFontTx/>
              <a:buChar char="-"/>
            </a:pPr>
            <a:endParaRPr lang="en-US" altLang="ko-KR" sz="1600"/>
          </a:p>
          <a:p>
            <a:r>
              <a:rPr lang="ko-KR" altLang="en-US" sz="1600"/>
              <a:t>개발일지 </a:t>
            </a:r>
            <a:r>
              <a:rPr lang="en-US" altLang="ko-KR" sz="1600"/>
              <a:t>(</a:t>
            </a:r>
            <a:r>
              <a:rPr lang="ko-KR" altLang="en-US" sz="1600"/>
              <a:t>선택 삽입 또는 별도 섹션</a:t>
            </a:r>
            <a:r>
              <a:rPr lang="en-US" altLang="ko-KR" sz="160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/>
              <a:t>시간순으로 격은 시행 착오를 타임 라인</a:t>
            </a:r>
            <a:r>
              <a:rPr lang="en-US" altLang="ko-KR" sz="1600"/>
              <a:t>/ </a:t>
            </a:r>
            <a:r>
              <a:rPr lang="ko-KR" altLang="en-US" sz="1600"/>
              <a:t>로그 형태로</a:t>
            </a:r>
            <a:endParaRPr lang="en-US" altLang="ko-KR" sz="1600"/>
          </a:p>
          <a:p>
            <a:pPr marL="285750" indent="-285750">
              <a:buFontTx/>
              <a:buChar char="-"/>
            </a:pPr>
            <a:r>
              <a:rPr lang="ko-KR" altLang="en-US" sz="1600"/>
              <a:t>예 </a:t>
            </a:r>
            <a:r>
              <a:rPr lang="en-US" altLang="ko-KR" sz="1600"/>
              <a:t>) 1</a:t>
            </a:r>
            <a:r>
              <a:rPr lang="ko-KR" altLang="en-US" sz="1600"/>
              <a:t>주차</a:t>
            </a:r>
            <a:r>
              <a:rPr lang="en-US" altLang="ko-KR" sz="1600"/>
              <a:t>:SPARK</a:t>
            </a:r>
            <a:r>
              <a:rPr lang="ko-KR" altLang="en-US" sz="1600"/>
              <a:t>로 시작 </a:t>
            </a:r>
            <a:r>
              <a:rPr lang="en-US" altLang="ko-KR" sz="1600"/>
              <a:t>-&gt; </a:t>
            </a:r>
            <a:r>
              <a:rPr lang="ko-KR" altLang="en-US" sz="1600"/>
              <a:t>지연 문제 발견 </a:t>
            </a:r>
            <a:r>
              <a:rPr lang="en-US" altLang="ko-KR" sz="1600"/>
              <a:t>/ 2</a:t>
            </a:r>
            <a:r>
              <a:rPr lang="ko-KR" altLang="en-US" sz="1600"/>
              <a:t>주차 </a:t>
            </a:r>
            <a:r>
              <a:rPr lang="en-US" altLang="ko-KR" sz="1600"/>
              <a:t>: FLINK</a:t>
            </a:r>
            <a:r>
              <a:rPr lang="ko-KR" altLang="en-US" sz="1600"/>
              <a:t>로 전환 검토 </a:t>
            </a:r>
            <a:r>
              <a:rPr lang="en-US" altLang="ko-KR" sz="1600"/>
              <a:t>/ 3</a:t>
            </a:r>
            <a:r>
              <a:rPr lang="ko-KR" altLang="en-US" sz="1600"/>
              <a:t>주차 </a:t>
            </a:r>
            <a:r>
              <a:rPr lang="en-US" altLang="ko-KR" sz="1600"/>
              <a:t>: </a:t>
            </a:r>
            <a:r>
              <a:rPr lang="ko-KR" altLang="en-US" sz="1600"/>
              <a:t>체크포인트 이슈 해결</a:t>
            </a:r>
            <a:r>
              <a:rPr lang="en-US" altLang="ko-KR" sz="1600"/>
              <a:t>…</a:t>
            </a:r>
          </a:p>
          <a:p>
            <a:pPr marL="285750" indent="-285750">
              <a:buFontTx/>
              <a:buChar char="-"/>
            </a:pPr>
            <a:r>
              <a:rPr lang="ko-KR" altLang="en-US" sz="1600"/>
              <a:t>과정에서의 사고력을 보여주는 용도라 완성된 결과 슬라이드와는 다르게 실패와 고민의 흔적을 솔직하게 담는게 오히려 강점</a:t>
            </a:r>
            <a:r>
              <a:rPr lang="en-US" altLang="ko-KR" sz="1600"/>
              <a:t>!</a:t>
            </a:r>
          </a:p>
          <a:p>
            <a:pPr marL="285750" indent="-285750">
              <a:buFontTx/>
              <a:buChar char="-"/>
            </a:pPr>
            <a:r>
              <a:rPr lang="ko-KR" altLang="en-US" sz="1600"/>
              <a:t>다이어리처럼 날짜 </a:t>
            </a:r>
            <a:r>
              <a:rPr lang="en-US" altLang="ko-KR" sz="1600"/>
              <a:t>/ </a:t>
            </a:r>
            <a:r>
              <a:rPr lang="ko-KR" altLang="en-US" sz="1600"/>
              <a:t>주차 </a:t>
            </a:r>
            <a:r>
              <a:rPr lang="en-US" altLang="ko-KR" sz="1600"/>
              <a:t>+ </a:t>
            </a:r>
            <a:r>
              <a:rPr lang="ko-KR" altLang="en-US" sz="1600"/>
              <a:t>짧은 코멘트 형식 추천</a:t>
            </a:r>
            <a:r>
              <a:rPr lang="en-US" altLang="ko-KR" sz="160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38264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01639-EABF-1CC5-5AAE-A22E70FB0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상세</a:t>
            </a:r>
            <a:r>
              <a:rPr lang="en-US" altLang="ko-KR"/>
              <a:t>(</a:t>
            </a:r>
            <a:r>
              <a:rPr lang="ko-KR" altLang="en-US"/>
              <a:t>서브 프로젝트</a:t>
            </a:r>
            <a:r>
              <a:rPr lang="en-US" altLang="ko-KR"/>
              <a:t>) - </a:t>
            </a:r>
            <a:r>
              <a:rPr lang="ko-KR" altLang="en-US"/>
              <a:t>헬스케어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30BFA219-BE98-70F7-1EFE-866E384C965E}"/>
              </a:ext>
            </a:extLst>
          </p:cNvPr>
          <p:cNvSpPr txBox="1">
            <a:spLocks/>
          </p:cNvSpPr>
          <p:nvPr/>
        </p:nvSpPr>
        <p:spPr>
          <a:xfrm>
            <a:off x="838200" y="1448858"/>
            <a:ext cx="10515600" cy="48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/>
              <a:t>설명</a:t>
            </a:r>
            <a:endParaRPr lang="en-US" altLang="ko-KR" sz="2400"/>
          </a:p>
          <a:p>
            <a:r>
              <a:rPr lang="ko-KR" altLang="en-US" sz="2400"/>
              <a:t>개요 </a:t>
            </a:r>
            <a:r>
              <a:rPr lang="en-US" altLang="ko-KR" sz="2400"/>
              <a:t>+ </a:t>
            </a:r>
            <a:r>
              <a:rPr lang="ko-KR" altLang="en-US" sz="2400"/>
              <a:t>배경</a:t>
            </a:r>
            <a:endParaRPr lang="en-US" altLang="ko-KR" sz="2400"/>
          </a:p>
          <a:p>
            <a:pPr marL="457200" indent="-457200">
              <a:buFontTx/>
              <a:buChar char="-"/>
            </a:pPr>
            <a:r>
              <a:rPr lang="ko-KR" altLang="en-US" sz="2400"/>
              <a:t>프로젝트명</a:t>
            </a:r>
            <a:r>
              <a:rPr lang="en-US" altLang="ko-KR" sz="2400"/>
              <a:t>, </a:t>
            </a:r>
            <a:r>
              <a:rPr lang="ko-KR" altLang="en-US" sz="2400"/>
              <a:t>기간</a:t>
            </a:r>
            <a:r>
              <a:rPr lang="en-US" altLang="ko-KR" sz="2400"/>
              <a:t>, </a:t>
            </a:r>
            <a:r>
              <a:rPr lang="ko-KR" altLang="en-US" sz="2400"/>
              <a:t>역할</a:t>
            </a:r>
            <a:r>
              <a:rPr lang="en-US" altLang="ko-KR" sz="2400"/>
              <a:t>, </a:t>
            </a:r>
            <a:r>
              <a:rPr lang="ko-KR" altLang="en-US" sz="2400"/>
              <a:t>스택</a:t>
            </a:r>
            <a:endParaRPr lang="en-US" altLang="ko-KR" sz="2400"/>
          </a:p>
          <a:p>
            <a:pPr marL="457200" indent="-457200">
              <a:buFontTx/>
              <a:buChar char="-"/>
            </a:pPr>
            <a:r>
              <a:rPr lang="ko-KR" altLang="en-US" sz="2400"/>
              <a:t>왜 온디바이스</a:t>
            </a:r>
            <a:r>
              <a:rPr lang="en-US" altLang="ko-KR" sz="2400"/>
              <a:t>/</a:t>
            </a:r>
            <a:r>
              <a:rPr lang="ko-KR" altLang="en-US" sz="2400"/>
              <a:t>모바일 데이터를 다뤘는지</a:t>
            </a:r>
            <a:r>
              <a:rPr lang="en-US" altLang="ko-KR" sz="2400"/>
              <a:t> </a:t>
            </a:r>
            <a:r>
              <a:rPr lang="ko-KR" altLang="en-US" sz="2400"/>
              <a:t>배경</a:t>
            </a:r>
            <a:r>
              <a:rPr lang="en-US" altLang="ko-KR" sz="2400"/>
              <a:t>( </a:t>
            </a:r>
            <a:r>
              <a:rPr lang="ko-KR" altLang="en-US" sz="2400"/>
              <a:t>제약 조건 강조 </a:t>
            </a:r>
            <a:r>
              <a:rPr lang="en-US" altLang="ko-KR" sz="2400"/>
              <a:t>: </a:t>
            </a:r>
            <a:r>
              <a:rPr lang="ko-KR" altLang="en-US" sz="2400"/>
              <a:t>배터리</a:t>
            </a:r>
            <a:r>
              <a:rPr lang="en-US" altLang="ko-KR" sz="2400"/>
              <a:t>, </a:t>
            </a:r>
            <a:r>
              <a:rPr lang="ko-KR" altLang="en-US" sz="2400"/>
              <a:t>네트워크</a:t>
            </a:r>
            <a:r>
              <a:rPr lang="en-US" altLang="ko-KR" sz="2400"/>
              <a:t>, </a:t>
            </a:r>
            <a:r>
              <a:rPr lang="ko-KR" altLang="en-US" sz="2400"/>
              <a:t>저장공간 등</a:t>
            </a:r>
            <a:r>
              <a:rPr lang="en-US" altLang="ko-KR" sz="2400"/>
              <a:t>)</a:t>
            </a:r>
          </a:p>
          <a:p>
            <a:pPr marL="457200" indent="-457200">
              <a:buFontTx/>
              <a:buChar char="-"/>
            </a:pPr>
            <a:endParaRPr lang="en-US" altLang="ko-KR" sz="2400"/>
          </a:p>
          <a:p>
            <a:r>
              <a:rPr lang="ko-KR" altLang="en-US" sz="2400"/>
              <a:t>설계 판단 </a:t>
            </a:r>
            <a:r>
              <a:rPr lang="en-US" altLang="ko-KR" sz="2400"/>
              <a:t>+ </a:t>
            </a:r>
            <a:r>
              <a:rPr lang="ko-KR" altLang="en-US" sz="2400"/>
              <a:t>결과</a:t>
            </a:r>
            <a:endParaRPr lang="en-US" altLang="ko-KR" sz="2400"/>
          </a:p>
          <a:p>
            <a:pPr marL="457200" indent="-457200">
              <a:buFontTx/>
              <a:buChar char="-"/>
            </a:pPr>
            <a:r>
              <a:rPr lang="ko-KR" altLang="en-US" sz="2400"/>
              <a:t>서버 사이드와 다른 제약 안에서 어떤 선택을 했는지 </a:t>
            </a:r>
            <a:r>
              <a:rPr lang="en-US" altLang="ko-KR" sz="2400"/>
              <a:t>(</a:t>
            </a:r>
            <a:r>
              <a:rPr lang="ko-KR" altLang="en-US" sz="2400"/>
              <a:t>예</a:t>
            </a:r>
            <a:r>
              <a:rPr lang="en-US" altLang="ko-KR" sz="2400"/>
              <a:t>) </a:t>
            </a:r>
            <a:r>
              <a:rPr lang="ko-KR" altLang="en-US" sz="2400"/>
              <a:t>배치 업로드 주기</a:t>
            </a:r>
            <a:r>
              <a:rPr lang="en-US" altLang="ko-KR" sz="2400"/>
              <a:t>, </a:t>
            </a:r>
            <a:r>
              <a:rPr lang="ko-KR" altLang="en-US" sz="2400"/>
              <a:t>로컬 캐싱</a:t>
            </a:r>
            <a:r>
              <a:rPr lang="en-US" altLang="ko-KR" sz="2400"/>
              <a:t>, </a:t>
            </a:r>
            <a:r>
              <a:rPr lang="ko-KR" altLang="en-US" sz="2400"/>
              <a:t>오프라인 대응</a:t>
            </a:r>
            <a:endParaRPr lang="en-US" altLang="ko-KR" sz="2400"/>
          </a:p>
          <a:p>
            <a:pPr marL="457200" indent="-457200">
              <a:buFontTx/>
              <a:buChar char="-"/>
            </a:pPr>
            <a:r>
              <a:rPr lang="ko-KR" altLang="en-US" sz="2400"/>
              <a:t>결과 </a:t>
            </a:r>
            <a:r>
              <a:rPr lang="en-US" altLang="ko-KR" sz="2400"/>
              <a:t>: </a:t>
            </a:r>
            <a:r>
              <a:rPr lang="ko-KR" altLang="en-US" sz="2400"/>
              <a:t>정성적이어도 괜찮음 </a:t>
            </a:r>
            <a:r>
              <a:rPr lang="en-US" altLang="ko-KR" sz="2400"/>
              <a:t>( </a:t>
            </a:r>
            <a:r>
              <a:rPr lang="ko-KR" altLang="en-US" sz="2400"/>
              <a:t>예</a:t>
            </a:r>
            <a:r>
              <a:rPr lang="en-US" altLang="ko-KR" sz="2400"/>
              <a:t>: </a:t>
            </a:r>
            <a:r>
              <a:rPr lang="ko-KR" altLang="en-US" sz="2400"/>
              <a:t>네트워크 불안정 상황에서도 데이터 유실 없이 수집</a:t>
            </a:r>
            <a:r>
              <a:rPr lang="en-US" altLang="ko-KR" sz="2400"/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3219293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1EC80-BBE7-4458-2B44-E2E57103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38933" cy="1325563"/>
          </a:xfrm>
        </p:spPr>
        <p:txBody>
          <a:bodyPr/>
          <a:lstStyle/>
          <a:p>
            <a:r>
              <a:rPr lang="ko-KR" altLang="en-US"/>
              <a:t>프로젝트 상세</a:t>
            </a:r>
            <a:r>
              <a:rPr lang="en-US" altLang="ko-KR"/>
              <a:t>(</a:t>
            </a:r>
            <a:r>
              <a:rPr lang="ko-KR" altLang="en-US"/>
              <a:t>처음 프로젝트</a:t>
            </a:r>
            <a:r>
              <a:rPr lang="en-US" altLang="ko-KR"/>
              <a:t>) – </a:t>
            </a:r>
            <a:r>
              <a:rPr lang="ko-KR" altLang="en-US"/>
              <a:t>맑은 날씨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7031F55D-7B1B-7E4C-CFB5-CAC4814E5B45}"/>
              </a:ext>
            </a:extLst>
          </p:cNvPr>
          <p:cNvSpPr txBox="1">
            <a:spLocks/>
          </p:cNvSpPr>
          <p:nvPr/>
        </p:nvSpPr>
        <p:spPr>
          <a:xfrm>
            <a:off x="838200" y="1448858"/>
            <a:ext cx="10515600" cy="48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설명</a:t>
            </a:r>
            <a:endParaRPr lang="en-US" altLang="ko-KR" sz="3200"/>
          </a:p>
          <a:p>
            <a:r>
              <a:rPr lang="en-US" altLang="ko-KR" sz="3200"/>
              <a:t>(</a:t>
            </a:r>
            <a:r>
              <a:rPr lang="ko-KR" altLang="en-US" sz="3200"/>
              <a:t>한장에 압축하는게 팁</a:t>
            </a:r>
            <a:r>
              <a:rPr lang="en-US" altLang="ko-KR" sz="3200"/>
              <a:t>!)</a:t>
            </a:r>
          </a:p>
          <a:p>
            <a:pPr marL="457200" indent="-457200">
              <a:buFontTx/>
              <a:buChar char="-"/>
            </a:pPr>
            <a:r>
              <a:rPr lang="ko-KR" altLang="en-US" sz="3200"/>
              <a:t>프로젝트명</a:t>
            </a:r>
            <a:r>
              <a:rPr lang="en-US" altLang="ko-KR" sz="3200"/>
              <a:t>, </a:t>
            </a:r>
            <a:r>
              <a:rPr lang="ko-KR" altLang="en-US" sz="3200"/>
              <a:t>기간</a:t>
            </a:r>
            <a:r>
              <a:rPr lang="en-US" altLang="ko-KR" sz="3200"/>
              <a:t>, </a:t>
            </a:r>
            <a:r>
              <a:rPr lang="ko-KR" altLang="en-US" sz="3200"/>
              <a:t>사용데이터</a:t>
            </a:r>
            <a:endParaRPr lang="en-US" altLang="ko-KR" sz="3200"/>
          </a:p>
          <a:p>
            <a:pPr marL="457200" indent="-457200">
              <a:buFontTx/>
              <a:buChar char="-"/>
            </a:pPr>
            <a:r>
              <a:rPr lang="ko-KR" altLang="en-US" sz="3200"/>
              <a:t>계기 </a:t>
            </a:r>
            <a:r>
              <a:rPr lang="en-US" altLang="ko-KR" sz="3200"/>
              <a:t>: </a:t>
            </a:r>
            <a:r>
              <a:rPr lang="ko-KR" altLang="en-US" sz="3200"/>
              <a:t>왜 시작햇는지 한 줄 </a:t>
            </a:r>
            <a:r>
              <a:rPr lang="en-US" altLang="ko-KR" sz="3200"/>
              <a:t>(</a:t>
            </a:r>
            <a:r>
              <a:rPr lang="ko-KR" altLang="en-US" sz="3200"/>
              <a:t>자발성 어필 포인트</a:t>
            </a:r>
            <a:r>
              <a:rPr lang="en-US" altLang="ko-KR" sz="3200"/>
              <a:t>)</a:t>
            </a:r>
          </a:p>
          <a:p>
            <a:pPr marL="457200" indent="-457200">
              <a:buFontTx/>
              <a:buChar char="-"/>
            </a:pPr>
            <a:r>
              <a:rPr lang="ko-KR" altLang="en-US" sz="3200"/>
              <a:t>핵심 기술 선택 이유 </a:t>
            </a:r>
            <a:r>
              <a:rPr lang="en-US" altLang="ko-KR" sz="3200"/>
              <a:t>1~2</a:t>
            </a:r>
            <a:r>
              <a:rPr lang="ko-KR" altLang="en-US" sz="3200"/>
              <a:t>줄</a:t>
            </a:r>
            <a:endParaRPr lang="en-US" altLang="ko-KR" sz="3200"/>
          </a:p>
          <a:p>
            <a:pPr marL="457200" indent="-457200">
              <a:buFontTx/>
              <a:buChar char="-"/>
            </a:pPr>
            <a:r>
              <a:rPr lang="ko-KR" altLang="en-US" sz="3200"/>
              <a:t>결과 </a:t>
            </a:r>
            <a:r>
              <a:rPr lang="en-US" altLang="ko-KR" sz="3200"/>
              <a:t>: </a:t>
            </a:r>
            <a:r>
              <a:rPr lang="ko-KR" altLang="en-US" sz="3200"/>
              <a:t>배운 점 또는 간단한 성과 지표</a:t>
            </a:r>
          </a:p>
        </p:txBody>
      </p:sp>
    </p:spTree>
    <p:extLst>
      <p:ext uri="{BB962C8B-B14F-4D97-AF65-F5344CB8AC3E}">
        <p14:creationId xmlns:p14="http://schemas.microsoft.com/office/powerpoint/2010/main" val="2839617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862DB0-0FFA-49A8-A74D-447B3693BE2F}"/>
              </a:ext>
            </a:extLst>
          </p:cNvPr>
          <p:cNvSpPr txBox="1"/>
          <p:nvPr/>
        </p:nvSpPr>
        <p:spPr>
          <a:xfrm>
            <a:off x="1314061" y="203200"/>
            <a:ext cx="9563878" cy="5957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7200" b="1">
                <a:gradFill flip="none" rotWithShape="1">
                  <a:gsLst>
                    <a:gs pos="0">
                      <a:srgbClr val="00B0F0"/>
                    </a:gs>
                    <a:gs pos="53200">
                      <a:schemeClr val="accent6"/>
                    </a:gs>
                    <a:gs pos="100000">
                      <a:srgbClr val="FFFF00"/>
                    </a:gs>
                  </a:gsLst>
                  <a:lin ang="18900000" scaled="1"/>
                  <a:tileRect/>
                </a:gradFill>
                <a:latin typeface="Pretendard"/>
              </a:rPr>
              <a:t>WHY?</a:t>
            </a:r>
            <a:r>
              <a:rPr lang="en-US" altLang="ko-KR" sz="7200" b="1">
                <a:solidFill>
                  <a:schemeClr val="bg1"/>
                </a:solidFill>
                <a:latin typeface="Pretendard"/>
              </a:rPr>
              <a:t> </a:t>
            </a:r>
            <a:r>
              <a:rPr lang="ko-KR" altLang="en-US" sz="5000" b="1">
                <a:solidFill>
                  <a:schemeClr val="bg1"/>
                </a:solidFill>
                <a:latin typeface="Pretendard"/>
              </a:rPr>
              <a:t>로 시작한 과거를</a:t>
            </a:r>
            <a:br>
              <a:rPr lang="ko-KR" altLang="en-US" sz="5000" b="1">
                <a:solidFill>
                  <a:schemeClr val="bg1"/>
                </a:solidFill>
                <a:latin typeface="Pretendard"/>
              </a:rPr>
            </a:br>
            <a:r>
              <a:rPr lang="ko-KR" altLang="en-US" sz="5000" b="1" u="sng">
                <a:solidFill>
                  <a:schemeClr val="bg1"/>
                </a:solidFill>
                <a:latin typeface="Pretendard"/>
              </a:rPr>
              <a:t>하루하루 쌓아 미래로</a:t>
            </a:r>
            <a:br>
              <a:rPr lang="ko-KR" altLang="en-US" sz="5000" b="1" u="sng">
                <a:solidFill>
                  <a:schemeClr val="bg1"/>
                </a:solidFill>
                <a:latin typeface="Pretendard"/>
              </a:rPr>
            </a:br>
            <a:r>
              <a:rPr lang="ko-KR" altLang="en-US" sz="5000" b="1">
                <a:solidFill>
                  <a:schemeClr val="bg1"/>
                </a:solidFill>
                <a:latin typeface="Pretendard"/>
              </a:rPr>
              <a:t>만들어가겠습니다</a:t>
            </a:r>
            <a:br>
              <a:rPr lang="ko-KR" altLang="en-US" sz="5000" b="1">
                <a:solidFill>
                  <a:schemeClr val="bg1"/>
                </a:solidFill>
                <a:latin typeface="Pretendard"/>
              </a:rPr>
            </a:br>
            <a:r>
              <a:rPr lang="en-US" altLang="ko-KR" sz="5000" b="1">
                <a:gradFill flip="none" rotWithShape="1">
                  <a:gsLst>
                    <a:gs pos="66000">
                      <a:srgbClr val="EC7CE7"/>
                    </a:gs>
                    <a:gs pos="0">
                      <a:schemeClr val="bg1"/>
                    </a:gs>
                    <a:gs pos="39000">
                      <a:srgbClr val="FFFF00"/>
                    </a:gs>
                    <a:gs pos="100000">
                      <a:srgbClr val="FF0000"/>
                    </a:gs>
                  </a:gsLst>
                  <a:lin ang="8100000" scaled="1"/>
                  <a:tileRect/>
                </a:gradFill>
                <a:latin typeface="Pretendard"/>
              </a:rPr>
              <a:t>Data</a:t>
            </a:r>
            <a:r>
              <a:rPr lang="en-US" altLang="ko-KR" sz="5000" b="1">
                <a:solidFill>
                  <a:schemeClr val="bg1"/>
                </a:solidFill>
                <a:latin typeface="Pretendard"/>
              </a:rPr>
              <a:t> Engineer</a:t>
            </a:r>
            <a:br>
              <a:rPr lang="ko-KR" altLang="en-US" sz="5000" b="1">
                <a:solidFill>
                  <a:schemeClr val="bg1"/>
                </a:solidFill>
                <a:latin typeface="Pretendard"/>
              </a:rPr>
            </a:br>
            <a:r>
              <a:rPr lang="ko-KR" altLang="en-US" sz="3600" b="1">
                <a:solidFill>
                  <a:schemeClr val="bg1"/>
                </a:solidFill>
                <a:latin typeface="Pretendard"/>
              </a:rPr>
              <a:t>강동균 입니다</a:t>
            </a:r>
            <a:r>
              <a:rPr lang="en-US" altLang="ko-KR" sz="3600" b="1">
                <a:solidFill>
                  <a:schemeClr val="bg1"/>
                </a:solidFill>
                <a:latin typeface="Pretendard"/>
              </a:rPr>
              <a:t>.</a:t>
            </a:r>
            <a:endParaRPr lang="ko-KR" altLang="en-US" sz="3600" b="1">
              <a:solidFill>
                <a:schemeClr val="bg1"/>
              </a:solidFill>
              <a:latin typeface="Pretendard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A4B3B76-B821-AA6F-A6E2-BD700912783B}"/>
              </a:ext>
            </a:extLst>
          </p:cNvPr>
          <p:cNvSpPr/>
          <p:nvPr/>
        </p:nvSpPr>
        <p:spPr>
          <a:xfrm>
            <a:off x="2989943" y="2496456"/>
            <a:ext cx="6139543" cy="435429"/>
          </a:xfrm>
          <a:prstGeom prst="rect">
            <a:avLst/>
          </a:prstGeom>
          <a:gradFill>
            <a:gsLst>
              <a:gs pos="0">
                <a:schemeClr val="tx1">
                  <a:alpha val="28000"/>
                </a:schemeClr>
              </a:gs>
              <a:gs pos="100000">
                <a:schemeClr val="tx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32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2E08B-187F-4BF9-0B5F-F237E059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마지막 하이라이트 지원 동기가 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8E86FF3-F254-E056-282B-EFD31248BD9D}"/>
              </a:ext>
            </a:extLst>
          </p:cNvPr>
          <p:cNvSpPr txBox="1">
            <a:spLocks/>
          </p:cNvSpPr>
          <p:nvPr/>
        </p:nvSpPr>
        <p:spPr>
          <a:xfrm>
            <a:off x="838200" y="1448858"/>
            <a:ext cx="10515600" cy="48249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/>
              <a:t>설명 </a:t>
            </a:r>
            <a:r>
              <a:rPr lang="en-US" altLang="ko-KR" sz="3200"/>
              <a:t>– </a:t>
            </a:r>
            <a:r>
              <a:rPr lang="ko-KR" altLang="en-US" sz="3200"/>
              <a:t>마지막 하이라이트로 계속 내려오던 핸드폰 그림자가 그림자가 아닌 화면에 제대로 핸드폰 화면이 잡히고 화면에는 켜진채 안에 지원서가 적혀있다</a:t>
            </a:r>
            <a:r>
              <a:rPr lang="en-US" altLang="ko-KR" sz="3200"/>
              <a:t>(</a:t>
            </a:r>
            <a:r>
              <a:rPr lang="ko-KR" altLang="en-US" sz="3200"/>
              <a:t>지원서에는 본인 증명 사진과 지원 동기</a:t>
            </a:r>
            <a:r>
              <a:rPr lang="en-US" altLang="ko-KR" sz="3200"/>
              <a:t>, </a:t>
            </a:r>
            <a:r>
              <a:rPr lang="ko-KR" altLang="en-US" sz="3200"/>
              <a:t>앞으로 하고 싶은일</a:t>
            </a:r>
            <a:r>
              <a:rPr lang="en-US" altLang="ko-KR" sz="3200"/>
              <a:t>, </a:t>
            </a:r>
            <a:r>
              <a:rPr lang="ko-KR" altLang="en-US" sz="3200"/>
              <a:t>연락처</a:t>
            </a:r>
            <a:r>
              <a:rPr lang="en-US" altLang="ko-KR" sz="3200"/>
              <a:t>, </a:t>
            </a:r>
            <a:r>
              <a:rPr lang="ko-KR" altLang="en-US" sz="3200"/>
              <a:t>이메일</a:t>
            </a:r>
            <a:r>
              <a:rPr lang="en-US" altLang="ko-KR" sz="3200"/>
              <a:t>, </a:t>
            </a:r>
            <a:r>
              <a:rPr lang="ko-KR" altLang="en-US" sz="3200"/>
              <a:t>깃헙</a:t>
            </a:r>
            <a:r>
              <a:rPr lang="en-US" altLang="ko-KR" sz="3200"/>
              <a:t>, </a:t>
            </a:r>
            <a:r>
              <a:rPr lang="ko-KR" altLang="en-US" sz="3200"/>
              <a:t>포폴 링크가 나와 있다</a:t>
            </a:r>
            <a:r>
              <a:rPr lang="en-US" altLang="ko-KR" sz="3200"/>
              <a:t>.</a:t>
            </a:r>
          </a:p>
          <a:p>
            <a:r>
              <a:rPr lang="en-US" altLang="ko-KR" sz="3200"/>
              <a:t>(</a:t>
            </a:r>
            <a:r>
              <a:rPr lang="ko-KR" altLang="en-US" sz="3200"/>
              <a:t>폰이 완전히 떨어진 후 폰에 닿인 바닥이 그림자가 빛으로 흰색으로 보이고 그대로 멈춘다</a:t>
            </a:r>
            <a:r>
              <a:rPr lang="en-US" altLang="ko-KR" sz="3200"/>
              <a:t>.(</a:t>
            </a:r>
            <a:r>
              <a:rPr lang="ko-KR" altLang="en-US" sz="3200"/>
              <a:t>배경은 바닥에 닿이고 검정색이었던 배경이 밝은 바다 속이 된다</a:t>
            </a:r>
            <a:r>
              <a:rPr lang="en-US" altLang="ko-KR" sz="3200"/>
              <a:t>.)</a:t>
            </a:r>
            <a:endParaRPr lang="ko-KR" altLang="en-US" sz="3200"/>
          </a:p>
        </p:txBody>
      </p:sp>
    </p:spTree>
    <p:extLst>
      <p:ext uri="{BB962C8B-B14F-4D97-AF65-F5344CB8AC3E}">
        <p14:creationId xmlns:p14="http://schemas.microsoft.com/office/powerpoint/2010/main" val="192395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599</Words>
  <Application>Microsoft Office PowerPoint</Application>
  <PresentationFormat>와이드스크린</PresentationFormat>
  <Paragraphs>77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Pretendard</vt:lpstr>
      <vt:lpstr>맑은 고딕</vt:lpstr>
      <vt:lpstr>Arial</vt:lpstr>
      <vt:lpstr>Office 테마</vt:lpstr>
      <vt:lpstr>PowerPoint 프레젠테이션</vt:lpstr>
      <vt:lpstr>목차 – 기술스택, 프로젝트요약, 프로젝트 상세, 마무리</vt:lpstr>
      <vt:lpstr>PowerPoint 프레젠테이션</vt:lpstr>
      <vt:lpstr>PowerPoint 프레젠테이션</vt:lpstr>
      <vt:lpstr>프로젝트 성장 과정 요약</vt:lpstr>
      <vt:lpstr>프로젝트 상세(메인 프로젝트) - 다티부스</vt:lpstr>
      <vt:lpstr>프로젝트 상세(서브 프로젝트) - 헬스케어</vt:lpstr>
      <vt:lpstr>프로젝트 상세(처음 프로젝트) – 맑은 날씨</vt:lpstr>
      <vt:lpstr>PowerPoint 프레젠테이션</vt:lpstr>
      <vt:lpstr>마지막 하이라이트 지원 동기가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dita_810</dc:creator>
  <cp:lastModifiedBy>동균 강</cp:lastModifiedBy>
  <cp:revision>33</cp:revision>
  <dcterms:created xsi:type="dcterms:W3CDTF">2026-07-20T07:11:56Z</dcterms:created>
  <dcterms:modified xsi:type="dcterms:W3CDTF">2026-07-20T15:36:53Z</dcterms:modified>
</cp:coreProperties>
</file>